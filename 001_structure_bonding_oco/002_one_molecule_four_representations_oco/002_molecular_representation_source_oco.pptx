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3657600" cy="2743200"/>
  <p:notesSz cx="6858000" cy="9144000"/>
  <p:embeddedFontLst>
    <p:embeddedFont>
      <p:font typeface="Sniglet" charset="1" panose="04070505030100020000"/>
      <p:regular r:id="rId16"/>
    </p:embeddedFont>
    <p:embeddedFont>
      <p:font typeface="Happy Font TH" charset="1" panose="02000503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257851" y="1936629"/>
            <a:ext cx="787818" cy="240903"/>
          </a:xfrm>
          <a:custGeom>
            <a:avLst/>
            <a:gdLst/>
            <a:ahLst/>
            <a:cxnLst/>
            <a:rect r="r" b="b" t="t" l="l"/>
            <a:pathLst>
              <a:path h="240903" w="787818">
                <a:moveTo>
                  <a:pt x="0" y="0"/>
                </a:moveTo>
                <a:lnTo>
                  <a:pt x="787818" y="0"/>
                </a:lnTo>
                <a:lnTo>
                  <a:pt x="787818" y="240903"/>
                </a:lnTo>
                <a:lnTo>
                  <a:pt x="0" y="2409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52658" y="206776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PROPANE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306" y="85616"/>
            <a:ext cx="1397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38647" y="885224"/>
            <a:ext cx="65277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C₃H₈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8205" y="1955480"/>
            <a:ext cx="57527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CH₃CH₂CH₃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205147" y="595443"/>
            <a:ext cx="928057" cy="928057"/>
          </a:xfrm>
          <a:custGeom>
            <a:avLst/>
            <a:gdLst/>
            <a:ahLst/>
            <a:cxnLst/>
            <a:rect r="r" b="b" t="t" l="l"/>
            <a:pathLst>
              <a:path h="928057" w="928057">
                <a:moveTo>
                  <a:pt x="0" y="0"/>
                </a:moveTo>
                <a:lnTo>
                  <a:pt x="928057" y="0"/>
                </a:lnTo>
                <a:lnTo>
                  <a:pt x="928057" y="928057"/>
                </a:lnTo>
                <a:lnTo>
                  <a:pt x="0" y="9280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247741" y="1942681"/>
            <a:ext cx="808039" cy="264579"/>
          </a:xfrm>
          <a:custGeom>
            <a:avLst/>
            <a:gdLst/>
            <a:ahLst/>
            <a:cxnLst/>
            <a:rect r="r" b="b" t="t" l="l"/>
            <a:pathLst>
              <a:path h="264579" w="808039">
                <a:moveTo>
                  <a:pt x="0" y="0"/>
                </a:moveTo>
                <a:lnTo>
                  <a:pt x="808038" y="0"/>
                </a:lnTo>
                <a:lnTo>
                  <a:pt x="808038" y="264579"/>
                </a:lnTo>
                <a:lnTo>
                  <a:pt x="0" y="2645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52658" y="206776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Ethanol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538" y="85616"/>
            <a:ext cx="17323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876244"/>
            <a:ext cx="236800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5A8DB0"/>
                </a:solidFill>
                <a:latin typeface="Happy Font TH"/>
                <a:ea typeface="Happy Font TH"/>
                <a:cs typeface="Happy Font TH"/>
                <a:sym typeface="Happy Font TH"/>
              </a:rPr>
              <a:t>C₂H₆O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4377" y="1973371"/>
            <a:ext cx="542925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CH₃CH₂OH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202938" y="595443"/>
            <a:ext cx="932476" cy="932476"/>
          </a:xfrm>
          <a:custGeom>
            <a:avLst/>
            <a:gdLst/>
            <a:ahLst/>
            <a:cxnLst/>
            <a:rect r="r" b="b" t="t" l="l"/>
            <a:pathLst>
              <a:path h="932476" w="932476">
                <a:moveTo>
                  <a:pt x="0" y="0"/>
                </a:moveTo>
                <a:lnTo>
                  <a:pt x="932475" y="0"/>
                </a:lnTo>
                <a:lnTo>
                  <a:pt x="932475" y="932475"/>
                </a:lnTo>
                <a:lnTo>
                  <a:pt x="0" y="932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341168" y="1849546"/>
            <a:ext cx="621184" cy="426101"/>
          </a:xfrm>
          <a:custGeom>
            <a:avLst/>
            <a:gdLst/>
            <a:ahLst/>
            <a:cxnLst/>
            <a:rect r="r" b="b" t="t" l="l"/>
            <a:pathLst>
              <a:path h="426101" w="621184">
                <a:moveTo>
                  <a:pt x="0" y="0"/>
                </a:moveTo>
                <a:lnTo>
                  <a:pt x="621184" y="0"/>
                </a:lnTo>
                <a:lnTo>
                  <a:pt x="621184" y="426101"/>
                </a:lnTo>
                <a:lnTo>
                  <a:pt x="0" y="4261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70074" y="177786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Acetone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447" y="85616"/>
            <a:ext cx="17541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876725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Happy Font TH"/>
                <a:ea typeface="Happy Font TH"/>
                <a:cs typeface="Happy Font TH"/>
                <a:sym typeface="Happy Font TH"/>
              </a:rPr>
              <a:t>C₃H₆O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6115" y="1955480"/>
            <a:ext cx="67945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CH₃C(=O)CH₃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166941" y="588427"/>
            <a:ext cx="1004468" cy="1004468"/>
          </a:xfrm>
          <a:custGeom>
            <a:avLst/>
            <a:gdLst/>
            <a:ahLst/>
            <a:cxnLst/>
            <a:rect r="r" b="b" t="t" l="l"/>
            <a:pathLst>
              <a:path h="1004468" w="1004468">
                <a:moveTo>
                  <a:pt x="0" y="0"/>
                </a:moveTo>
                <a:lnTo>
                  <a:pt x="1004469" y="0"/>
                </a:lnTo>
                <a:lnTo>
                  <a:pt x="1004469" y="1004469"/>
                </a:lnTo>
                <a:lnTo>
                  <a:pt x="0" y="10044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52658" y="379549"/>
            <a:ext cx="1599102" cy="14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"/>
              </a:lnSpc>
            </a:pPr>
            <a:r>
              <a:rPr lang="en-US" sz="645" spc="-12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(propan-2-one)</a:t>
            </a:r>
          </a:p>
          <a:p>
            <a:pPr algn="ctr">
              <a:lnSpc>
                <a:spcPts val="58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364531" y="1883716"/>
            <a:ext cx="574459" cy="421947"/>
          </a:xfrm>
          <a:custGeom>
            <a:avLst/>
            <a:gdLst/>
            <a:ahLst/>
            <a:cxnLst/>
            <a:rect r="r" b="b" t="t" l="l"/>
            <a:pathLst>
              <a:path h="421947" w="574459">
                <a:moveTo>
                  <a:pt x="0" y="0"/>
                </a:moveTo>
                <a:lnTo>
                  <a:pt x="574458" y="0"/>
                </a:lnTo>
                <a:lnTo>
                  <a:pt x="574458" y="421947"/>
                </a:lnTo>
                <a:lnTo>
                  <a:pt x="0" y="4219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52658" y="206776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Acetic acid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522" y="85616"/>
            <a:ext cx="16926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912209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C₂H₄O₂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111" y="1955480"/>
            <a:ext cx="13483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CH₃C(=O)OH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52658" y="397638"/>
            <a:ext cx="1599102" cy="14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"/>
              </a:lnSpc>
            </a:pPr>
            <a:r>
              <a:rPr lang="en-US" sz="645" spc="-12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(ethanoic acid)</a:t>
            </a:r>
          </a:p>
          <a:p>
            <a:pPr algn="ctr">
              <a:lnSpc>
                <a:spcPts val="581"/>
              </a:lnSpc>
            </a:pP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2153523" y="561590"/>
            <a:ext cx="1031305" cy="1031305"/>
          </a:xfrm>
          <a:custGeom>
            <a:avLst/>
            <a:gdLst/>
            <a:ahLst/>
            <a:cxnLst/>
            <a:rect r="r" b="b" t="t" l="l"/>
            <a:pathLst>
              <a:path h="1031305" w="1031305">
                <a:moveTo>
                  <a:pt x="0" y="0"/>
                </a:moveTo>
                <a:lnTo>
                  <a:pt x="1031305" y="0"/>
                </a:lnTo>
                <a:lnTo>
                  <a:pt x="1031305" y="1031306"/>
                </a:lnTo>
                <a:lnTo>
                  <a:pt x="0" y="10313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189843" y="1849546"/>
            <a:ext cx="967441" cy="422619"/>
          </a:xfrm>
          <a:custGeom>
            <a:avLst/>
            <a:gdLst/>
            <a:ahLst/>
            <a:cxnLst/>
            <a:rect r="r" b="b" t="t" l="l"/>
            <a:pathLst>
              <a:path h="422619" w="967441">
                <a:moveTo>
                  <a:pt x="0" y="0"/>
                </a:moveTo>
                <a:lnTo>
                  <a:pt x="967441" y="0"/>
                </a:lnTo>
                <a:lnTo>
                  <a:pt x="967441" y="422619"/>
                </a:lnTo>
                <a:lnTo>
                  <a:pt x="0" y="4226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29249" y="180039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Ethyl acetate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5332" y="85616"/>
            <a:ext cx="17164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916630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C₄H₈O₂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8102" y="1955480"/>
            <a:ext cx="955477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CH₃C(=O)OCH₂CH₃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035636" y="429458"/>
            <a:ext cx="1267080" cy="1267080"/>
          </a:xfrm>
          <a:custGeom>
            <a:avLst/>
            <a:gdLst/>
            <a:ahLst/>
            <a:cxnLst/>
            <a:rect r="r" b="b" t="t" l="l"/>
            <a:pathLst>
              <a:path h="1267080" w="1267080">
                <a:moveTo>
                  <a:pt x="0" y="0"/>
                </a:moveTo>
                <a:lnTo>
                  <a:pt x="1267080" y="0"/>
                </a:lnTo>
                <a:lnTo>
                  <a:pt x="1267080" y="1267080"/>
                </a:lnTo>
                <a:lnTo>
                  <a:pt x="0" y="12670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30483" y="396089"/>
            <a:ext cx="1599102" cy="14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"/>
              </a:lnSpc>
            </a:pPr>
            <a:r>
              <a:rPr lang="en-US" sz="645" spc="-12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(ethyl ethanoate)</a:t>
            </a:r>
          </a:p>
          <a:p>
            <a:pPr algn="ctr">
              <a:lnSpc>
                <a:spcPts val="58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458616" y="1849546"/>
            <a:ext cx="386289" cy="442199"/>
          </a:xfrm>
          <a:custGeom>
            <a:avLst/>
            <a:gdLst/>
            <a:ahLst/>
            <a:cxnLst/>
            <a:rect r="r" b="b" t="t" l="l"/>
            <a:pathLst>
              <a:path h="442199" w="386289">
                <a:moveTo>
                  <a:pt x="0" y="0"/>
                </a:moveTo>
                <a:lnTo>
                  <a:pt x="386288" y="0"/>
                </a:lnTo>
                <a:lnTo>
                  <a:pt x="386288" y="442199"/>
                </a:lnTo>
                <a:lnTo>
                  <a:pt x="0" y="442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52658" y="206776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Cyclohexane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026" y="85616"/>
            <a:ext cx="17025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912209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C₆H₁₂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111" y="1935271"/>
            <a:ext cx="13483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cyclo-(CH₂)₆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334627" y="737335"/>
            <a:ext cx="634265" cy="634265"/>
          </a:xfrm>
          <a:custGeom>
            <a:avLst/>
            <a:gdLst/>
            <a:ahLst/>
            <a:cxnLst/>
            <a:rect r="r" b="b" t="t" l="l"/>
            <a:pathLst>
              <a:path h="634265" w="634265">
                <a:moveTo>
                  <a:pt x="0" y="0"/>
                </a:moveTo>
                <a:lnTo>
                  <a:pt x="634266" y="0"/>
                </a:lnTo>
                <a:lnTo>
                  <a:pt x="634266" y="634265"/>
                </a:lnTo>
                <a:lnTo>
                  <a:pt x="0" y="6342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-10800000">
            <a:off x="2534519" y="1849546"/>
            <a:ext cx="269313" cy="471297"/>
          </a:xfrm>
          <a:custGeom>
            <a:avLst/>
            <a:gdLst/>
            <a:ahLst/>
            <a:cxnLst/>
            <a:rect r="r" b="b" t="t" l="l"/>
            <a:pathLst>
              <a:path h="471297" w="269313">
                <a:moveTo>
                  <a:pt x="0" y="0"/>
                </a:moveTo>
                <a:lnTo>
                  <a:pt x="269313" y="0"/>
                </a:lnTo>
                <a:lnTo>
                  <a:pt x="269313" y="471297"/>
                </a:lnTo>
                <a:lnTo>
                  <a:pt x="0" y="471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52658" y="206776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Cyclohexanone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872" y="85616"/>
            <a:ext cx="15656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912209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C₆H₁₀O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1690" y="1955480"/>
            <a:ext cx="13483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cyclo-(CH₂)₅C=O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369352" y="771952"/>
            <a:ext cx="599648" cy="599648"/>
          </a:xfrm>
          <a:custGeom>
            <a:avLst/>
            <a:gdLst/>
            <a:ahLst/>
            <a:cxnLst/>
            <a:rect r="r" b="b" t="t" l="l"/>
            <a:pathLst>
              <a:path h="599648" w="599648">
                <a:moveTo>
                  <a:pt x="0" y="0"/>
                </a:moveTo>
                <a:lnTo>
                  <a:pt x="599648" y="0"/>
                </a:lnTo>
                <a:lnTo>
                  <a:pt x="599648" y="599648"/>
                </a:lnTo>
                <a:lnTo>
                  <a:pt x="0" y="5996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189843" y="1869314"/>
            <a:ext cx="908264" cy="396464"/>
          </a:xfrm>
          <a:custGeom>
            <a:avLst/>
            <a:gdLst/>
            <a:ahLst/>
            <a:cxnLst/>
            <a:rect r="r" b="b" t="t" l="l"/>
            <a:pathLst>
              <a:path h="396464" w="908264">
                <a:moveTo>
                  <a:pt x="0" y="0"/>
                </a:moveTo>
                <a:lnTo>
                  <a:pt x="908264" y="0"/>
                </a:lnTo>
                <a:lnTo>
                  <a:pt x="908264" y="396464"/>
                </a:lnTo>
                <a:lnTo>
                  <a:pt x="0" y="396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186970" y="595443"/>
            <a:ext cx="964411" cy="964411"/>
          </a:xfrm>
          <a:custGeom>
            <a:avLst/>
            <a:gdLst/>
            <a:ahLst/>
            <a:cxnLst/>
            <a:rect r="r" b="b" t="t" l="l"/>
            <a:pathLst>
              <a:path h="964411" w="964411">
                <a:moveTo>
                  <a:pt x="0" y="0"/>
                </a:moveTo>
                <a:lnTo>
                  <a:pt x="964411" y="0"/>
                </a:lnTo>
                <a:lnTo>
                  <a:pt x="964411" y="964411"/>
                </a:lnTo>
                <a:lnTo>
                  <a:pt x="0" y="9644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88364" y="9440"/>
            <a:ext cx="1599102" cy="52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</a:p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Acetaminophen</a:t>
            </a:r>
          </a:p>
          <a:p>
            <a:pPr algn="ctr">
              <a:lnSpc>
                <a:spcPts val="139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637" y="85616"/>
            <a:ext cx="17303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00091" y="397345"/>
            <a:ext cx="1599102" cy="7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"/>
              </a:lnSpc>
            </a:pPr>
            <a:r>
              <a:rPr lang="en-US" sz="645" spc="-12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(paracetamol)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-178163" y="912209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C₈H₉NO₂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4216" y="1922765"/>
            <a:ext cx="1056878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spc="-18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CH₃C(=O)NH-C₆H₄-OH 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spc="-18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(para, 1,4)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339969" y="1851997"/>
            <a:ext cx="658414" cy="484314"/>
          </a:xfrm>
          <a:custGeom>
            <a:avLst/>
            <a:gdLst/>
            <a:ahLst/>
            <a:cxnLst/>
            <a:rect r="r" b="b" t="t" l="l"/>
            <a:pathLst>
              <a:path h="484314" w="658414">
                <a:moveTo>
                  <a:pt x="0" y="0"/>
                </a:moveTo>
                <a:lnTo>
                  <a:pt x="658414" y="0"/>
                </a:lnTo>
                <a:lnTo>
                  <a:pt x="658414" y="484314"/>
                </a:lnTo>
                <a:lnTo>
                  <a:pt x="0" y="484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52658" y="172948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Aspirin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026" y="85616"/>
            <a:ext cx="17025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09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912209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C₉H₈O₄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1725" y="1934134"/>
            <a:ext cx="1136055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spc="-18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CH₃C(=O)O-C₆H₄-COOH 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 spc="-18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(ortho, 1,2)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0483" y="393761"/>
            <a:ext cx="1599102" cy="14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"/>
              </a:lnSpc>
            </a:pPr>
            <a:r>
              <a:rPr lang="en-US" sz="645" spc="-12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(acetylsalicyclic acid)</a:t>
            </a:r>
          </a:p>
          <a:p>
            <a:pPr algn="ctr">
              <a:lnSpc>
                <a:spcPts val="581"/>
              </a:lnSpc>
            </a:pP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2339969" y="736988"/>
            <a:ext cx="634612" cy="634612"/>
          </a:xfrm>
          <a:custGeom>
            <a:avLst/>
            <a:gdLst/>
            <a:ahLst/>
            <a:cxnLst/>
            <a:rect r="r" b="b" t="t" l="l"/>
            <a:pathLst>
              <a:path h="634612" w="634612">
                <a:moveTo>
                  <a:pt x="0" y="0"/>
                </a:moveTo>
                <a:lnTo>
                  <a:pt x="634612" y="0"/>
                </a:lnTo>
                <a:lnTo>
                  <a:pt x="634612" y="634612"/>
                </a:lnTo>
                <a:lnTo>
                  <a:pt x="0" y="634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DB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690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67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967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67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4255" y="52820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4255" y="1204944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64255" y="1546607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594107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86199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2988193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515172" y="-497319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5" y="0"/>
                </a:lnTo>
                <a:lnTo>
                  <a:pt x="51845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605834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87371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2999920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400000">
            <a:off x="1526899" y="2096746"/>
            <a:ext cx="51846" cy="1152124"/>
          </a:xfrm>
          <a:custGeom>
            <a:avLst/>
            <a:gdLst/>
            <a:ahLst/>
            <a:cxnLst/>
            <a:rect r="r" b="b" t="t" l="l"/>
            <a:pathLst>
              <a:path h="1152124" w="51846">
                <a:moveTo>
                  <a:pt x="0" y="0"/>
                </a:moveTo>
                <a:lnTo>
                  <a:pt x="51846" y="0"/>
                </a:lnTo>
                <a:lnTo>
                  <a:pt x="51846" y="1152124"/>
                </a:lnTo>
                <a:lnTo>
                  <a:pt x="0" y="115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977895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1690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300" y="0"/>
                </a:lnTo>
                <a:lnTo>
                  <a:pt x="1348300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977895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90" y="0"/>
                </a:lnTo>
                <a:lnTo>
                  <a:pt x="55890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95026" y="515301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20"/>
                </a:lnTo>
                <a:lnTo>
                  <a:pt x="0" y="89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5026" y="1535746"/>
            <a:ext cx="1348300" cy="896619"/>
          </a:xfrm>
          <a:custGeom>
            <a:avLst/>
            <a:gdLst/>
            <a:ahLst/>
            <a:cxnLst/>
            <a:rect r="r" b="b" t="t" l="l"/>
            <a:pathLst>
              <a:path h="896619" w="1348300">
                <a:moveTo>
                  <a:pt x="0" y="0"/>
                </a:moveTo>
                <a:lnTo>
                  <a:pt x="1348299" y="0"/>
                </a:lnTo>
                <a:lnTo>
                  <a:pt x="1348299" y="896619"/>
                </a:lnTo>
                <a:lnTo>
                  <a:pt x="0" y="89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2641231" y="1143461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2641231" y="123017"/>
            <a:ext cx="55889" cy="1241981"/>
          </a:xfrm>
          <a:custGeom>
            <a:avLst/>
            <a:gdLst/>
            <a:ahLst/>
            <a:cxnLst/>
            <a:rect r="r" b="b" t="t" l="l"/>
            <a:pathLst>
              <a:path h="1241981" w="55889">
                <a:moveTo>
                  <a:pt x="0" y="0"/>
                </a:moveTo>
                <a:lnTo>
                  <a:pt x="55889" y="0"/>
                </a:lnTo>
                <a:lnTo>
                  <a:pt x="55889" y="1241981"/>
                </a:lnTo>
                <a:lnTo>
                  <a:pt x="0" y="1241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67" y="52820"/>
            <a:ext cx="314377" cy="282282"/>
            <a:chOff x="0" y="0"/>
            <a:chExt cx="310496" cy="278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496" cy="278797"/>
            </a:xfrm>
            <a:custGeom>
              <a:avLst/>
              <a:gdLst/>
              <a:ahLst/>
              <a:cxnLst/>
              <a:rect r="r" b="b" t="t" l="l"/>
              <a:pathLst>
                <a:path h="278797" w="310496">
                  <a:moveTo>
                    <a:pt x="0" y="0"/>
                  </a:moveTo>
                  <a:lnTo>
                    <a:pt x="310496" y="0"/>
                  </a:lnTo>
                  <a:lnTo>
                    <a:pt x="310496" y="278797"/>
                  </a:lnTo>
                  <a:lnTo>
                    <a:pt x="0" y="278797"/>
                  </a:lnTo>
                  <a:close/>
                </a:path>
              </a:pathLst>
            </a:custGeom>
            <a:solidFill>
              <a:srgbClr val="C2E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496" cy="297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400" y="2532902"/>
            <a:ext cx="3459030" cy="74065"/>
            <a:chOff x="0" y="0"/>
            <a:chExt cx="4612040" cy="98753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9050"/>
              <a:ext cx="4612040" cy="117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"/>
                </a:lnSpc>
                <a:spcBef>
                  <a:spcPct val="0"/>
                </a:spcBef>
              </a:pPr>
              <a:r>
                <a:rPr lang="en-US" sz="514">
                  <a:solidFill>
                    <a:srgbClr val="5A8DB0"/>
                  </a:solidFill>
                  <a:latin typeface="Sniglet"/>
                  <a:ea typeface="Sniglet"/>
                  <a:cs typeface="Sniglet"/>
                  <a:sym typeface="Sniglet"/>
                </a:rPr>
                <a:t>atom count verified            valence checked            bond order checked            same connectivity confirmed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222402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85895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4" y="0"/>
                  </a:lnTo>
                  <a:lnTo>
                    <a:pt x="104504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45449" y="0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7"/>
                  </a:lnTo>
                  <a:lnTo>
                    <a:pt x="0" y="9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30608" y="2045"/>
              <a:ext cx="104505" cy="96667"/>
            </a:xfrm>
            <a:custGeom>
              <a:avLst/>
              <a:gdLst/>
              <a:ahLst/>
              <a:cxnLst/>
              <a:rect r="r" b="b" t="t" l="l"/>
              <a:pathLst>
                <a:path h="96667" w="104505">
                  <a:moveTo>
                    <a:pt x="0" y="0"/>
                  </a:moveTo>
                  <a:lnTo>
                    <a:pt x="104505" y="0"/>
                  </a:lnTo>
                  <a:lnTo>
                    <a:pt x="104505" y="96666"/>
                  </a:lnTo>
                  <a:lnTo>
                    <a:pt x="0" y="9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387449" y="1856524"/>
            <a:ext cx="563454" cy="500544"/>
          </a:xfrm>
          <a:custGeom>
            <a:avLst/>
            <a:gdLst/>
            <a:ahLst/>
            <a:cxnLst/>
            <a:rect r="r" b="b" t="t" l="l"/>
            <a:pathLst>
              <a:path h="500544" w="563454">
                <a:moveTo>
                  <a:pt x="0" y="0"/>
                </a:moveTo>
                <a:lnTo>
                  <a:pt x="563454" y="0"/>
                </a:lnTo>
                <a:lnTo>
                  <a:pt x="563454" y="500544"/>
                </a:lnTo>
                <a:lnTo>
                  <a:pt x="0" y="5005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52658" y="206776"/>
            <a:ext cx="1599102" cy="18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1545" spc="-3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Caffeine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1690" y="576393"/>
            <a:ext cx="864401" cy="10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7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Molecular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95026" y="576393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Lewis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5026" y="1602421"/>
            <a:ext cx="864401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Bond-Line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1690" y="1602114"/>
            <a:ext cx="1295140" cy="1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3" indent="-63296" lvl="1">
              <a:lnSpc>
                <a:spcPts val="820"/>
              </a:lnSpc>
              <a:spcBef>
                <a:spcPct val="0"/>
              </a:spcBef>
              <a:buAutoNum type="arabicPeriod" startAt="1"/>
            </a:pPr>
            <a:r>
              <a:rPr lang="en-US" sz="586" spc="-11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  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306" y="85616"/>
            <a:ext cx="1397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10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-178163" y="902684"/>
            <a:ext cx="236800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C₈H₁₀N₄O₂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0883" y="1973371"/>
            <a:ext cx="13483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20">
                <a:solidFill>
                  <a:srgbClr val="5A8DB0"/>
                </a:solidFill>
                <a:latin typeface="Sniglet"/>
                <a:ea typeface="Sniglet"/>
                <a:cs typeface="Sniglet"/>
                <a:sym typeface="Sniglet"/>
              </a:rPr>
              <a:t>C₅H(CH₃)₃N₄O₂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330614" y="763057"/>
            <a:ext cx="620288" cy="620288"/>
          </a:xfrm>
          <a:custGeom>
            <a:avLst/>
            <a:gdLst/>
            <a:ahLst/>
            <a:cxnLst/>
            <a:rect r="r" b="b" t="t" l="l"/>
            <a:pathLst>
              <a:path h="620288" w="620288">
                <a:moveTo>
                  <a:pt x="0" y="0"/>
                </a:moveTo>
                <a:lnTo>
                  <a:pt x="620289" y="0"/>
                </a:lnTo>
                <a:lnTo>
                  <a:pt x="620289" y="620289"/>
                </a:lnTo>
                <a:lnTo>
                  <a:pt x="0" y="6202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DAHYRbsOTok</dc:identifier>
  <dcterms:modified xsi:type="dcterms:W3CDTF">2011-08-01T06:04:30Z</dcterms:modified>
  <cp:revision>1</cp:revision>
  <dc:title>002_molecular_representation_source_oco</dc:title>
</cp:coreProperties>
</file>